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58" r:id="rId7"/>
    <p:sldId id="272" r:id="rId8"/>
    <p:sldId id="273" r:id="rId9"/>
    <p:sldId id="274" r:id="rId10"/>
    <p:sldId id="275" r:id="rId11"/>
    <p:sldId id="27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0704" autoAdjust="0"/>
  </p:normalViewPr>
  <p:slideViewPr>
    <p:cSldViewPr snapToGrid="0">
      <p:cViewPr>
        <p:scale>
          <a:sx n="100" d="100"/>
          <a:sy n="100" d="100"/>
        </p:scale>
        <p:origin x="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5/14/2024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5/14/2024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8B6D41A-3D8C-2AA1-FC6A-57635E6CF9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148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380517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272747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572428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07731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421740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536300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461670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394926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013990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4693481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498046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6400136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254492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566877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71536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111608"/>
            <a:ext cx="10515600" cy="3744912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277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7449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7724" y="2809875"/>
            <a:ext cx="6696075" cy="1909763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04828DA-5EC5-4A00-9A7B-CD9668EF2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7725" y="5028803"/>
            <a:ext cx="6696074" cy="365125"/>
          </a:xfrm>
        </p:spPr>
        <p:txBody>
          <a:bodyPr anchor="b">
            <a:normAutofit/>
          </a:bodyPr>
          <a:lstStyle>
            <a:lvl1pPr marL="0" indent="0" algn="l">
              <a:buNone/>
              <a:defRPr sz="16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303E9A-96BC-4283-A6E1-5948AEB119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76774" y="6356350"/>
            <a:ext cx="169545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19C49-052B-4D3E-B227-1D787463C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3699" y="6356350"/>
            <a:ext cx="25431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E724A-95F0-41B6-A77E-EDD067272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8350" y="6356350"/>
            <a:ext cx="1695450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0656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28568" y="5084524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578300" y="5084524"/>
            <a:ext cx="233081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1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068964" y="5084524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488845" y="5084524"/>
            <a:ext cx="231770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C911F2-9041-416A-B83C-F23B354E0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334250" y="0"/>
            <a:ext cx="4857750" cy="1724025"/>
            <a:chOff x="7334250" y="0"/>
            <a:chExt cx="4857750" cy="172402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E4B72DA-52CB-4D39-A342-8857B4D959B2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1D9BCDA-DFB7-41A4-A7C7-CEE86CEDCB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1227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87AAB93-862D-455E-9E73-3D0DAEFDE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473953"/>
            <a:ext cx="12192000" cy="5621336"/>
            <a:chOff x="0" y="473953"/>
            <a:chExt cx="12192000" cy="5621336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B0DFD584-E5CF-41EF-B51E-679CE22DDF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73953"/>
              <a:ext cx="2057400" cy="1647825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5C02DDF-25A6-42C7-9525-F279CE2095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049000" y="5180889"/>
              <a:ext cx="1143000" cy="9144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500168" y="3809747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49262" y="3809747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1938DB4D-239F-4E8E-8802-0470B013118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65558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98355" y="3654378"/>
            <a:ext cx="2105135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095999" y="3809747"/>
            <a:ext cx="22998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4480" y="3809747"/>
            <a:ext cx="184412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500168" y="566858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849262" y="566858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E029C5CA-EDDA-4BF9-9051-8B09E98EE1E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65558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339926" y="5668583"/>
            <a:ext cx="1813474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744480" y="5668583"/>
            <a:ext cx="184412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120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786F69D-D4FA-4075-A7EC-8D31A184F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6988B2D-0240-4256-8268-4B9FF1E7236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8EEAAE1-3D04-41C3-B2D2-B3BEF34C3B2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11375"/>
            <a:ext cx="10515600" cy="3744913"/>
          </a:xfrm>
        </p:spPr>
        <p:txBody>
          <a:bodyPr/>
          <a:lstStyle/>
          <a:p>
            <a:r>
              <a:rPr lang="en-US"/>
              <a:t>Click icon to add SmartArt graphic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11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6074" y="1507772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2131" y="2584097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38556" y="3660422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22756" y="4736748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6" y="1613528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9" y="2682564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8" y="3755394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80" y="4824430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9143" y="6356350"/>
            <a:ext cx="377598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2594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2368EF4-1233-48C7-8DB5-75844BFCD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238376" cy="3105150"/>
            <a:chOff x="0" y="0"/>
            <a:chExt cx="2238376" cy="31051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63D7850-C2A6-43CE-BBE4-8E81A0A593B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BAD3E03-2E3B-440C-9105-6F9D33006D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8896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805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666" r:id="rId17"/>
    <p:sldLayoutId id="2147483667" r:id="rId18"/>
    <p:sldLayoutId id="2147483654" r:id="rId19"/>
    <p:sldLayoutId id="2147483663" r:id="rId20"/>
    <p:sldLayoutId id="2147483662" r:id="rId21"/>
    <p:sldLayoutId id="2147483668" r:id="rId22"/>
    <p:sldLayoutId id="2147483652" r:id="rId23"/>
    <p:sldLayoutId id="2147483660" r:id="rId24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65914" y="2760764"/>
            <a:ext cx="5775960" cy="2539522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sz="4400" dirty="0">
                <a:solidFill>
                  <a:schemeClr val="tx1"/>
                </a:solidFill>
              </a:rPr>
              <a:t>ADDRESSING THE HIV/AIDS STIGMA IN SOUTH AFRICA THROUGH BLOCKCHAIN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36A1B4-B8D1-4A72-8E20-0703F54BF1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34480" y="5300286"/>
            <a:ext cx="2289653" cy="395785"/>
          </a:xfrm>
        </p:spPr>
        <p:txBody>
          <a:bodyPr>
            <a:normAutofit fontScale="25000" lnSpcReduction="20000"/>
          </a:bodyPr>
          <a:lstStyle/>
          <a:p>
            <a:r>
              <a:rPr lang="en-US" sz="5200" dirty="0"/>
              <a:t>Thabang Aubrey Kgosiemang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Introduction</a:t>
            </a:r>
          </a:p>
          <a:p>
            <a:r>
              <a:rPr lang="en-US" sz="1800" dirty="0"/>
              <a:t>Background</a:t>
            </a:r>
          </a:p>
          <a:p>
            <a:r>
              <a:rPr lang="en-US" sz="1800"/>
              <a:t>Problem Statement</a:t>
            </a:r>
            <a:endParaRPr lang="en-US" sz="1800" dirty="0"/>
          </a:p>
          <a:p>
            <a:r>
              <a:rPr lang="en-US" sz="1800" dirty="0"/>
              <a:t>High level solution</a:t>
            </a:r>
          </a:p>
          <a:p>
            <a:r>
              <a:rPr lang="en-US" sz="1800" dirty="0"/>
              <a:t>Prototype demonstration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5BAF8-EA80-4AD4-8D83-5960C29957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5339" y="6276169"/>
            <a:ext cx="985157" cy="365125"/>
          </a:xfrm>
        </p:spPr>
        <p:txBody>
          <a:bodyPr/>
          <a:lstStyle/>
          <a:p>
            <a:r>
              <a:rPr lang="en-US" dirty="0"/>
              <a:t>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C19884-873C-4D13-BE6D-318CF07B0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4572162" cy="199899"/>
          </a:xfrm>
        </p:spPr>
        <p:txBody>
          <a:bodyPr/>
          <a:lstStyle/>
          <a:p>
            <a:r>
              <a:rPr lang="en-US" dirty="0"/>
              <a:t>Addressing the HIV/AIDS stigma in South Africa through Blockchain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91F00-87A7-45A6-8029-B097FA724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492875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931" y="409432"/>
            <a:ext cx="5111750" cy="1000342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2931" y="1801505"/>
            <a:ext cx="5111750" cy="431269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widespread stigma surrounding HIV/AIDS in South Africa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Analysis of the implications of the HIV/AIDS stigma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Introduction to a high-level solution that uses blockchain technology to tackle HIV/AIDS stigma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role of blockchain technology in reducing the HIV/AIDS stigma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platform’s anonymity and security provided by blockchain technology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How the blockchain technology can create a positive and supportive community that encourages testing and treatment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12647-CCB2-45E2-A9CB-A868F49049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75543" y="6356350"/>
            <a:ext cx="911939" cy="365125"/>
          </a:xfrm>
        </p:spPr>
        <p:txBody>
          <a:bodyPr/>
          <a:lstStyle/>
          <a:p>
            <a:r>
              <a:rPr lang="en-US" dirty="0"/>
              <a:t>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1ED20-04D4-4894-B0C2-9C541A61A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4266184" cy="365125"/>
          </a:xfrm>
        </p:spPr>
        <p:txBody>
          <a:bodyPr/>
          <a:lstStyle/>
          <a:p>
            <a:r>
              <a:rPr lang="en-US" dirty="0"/>
              <a:t>Addressing the HIV/AIDS stigma in South Africa through Blockchain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1787E-7110-4989-B0B8-DD4E0ACC0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2029A-6915-E96B-9950-485A14E7B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219" y="321283"/>
            <a:ext cx="5111750" cy="1204912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FD8FB-7525-772E-0AC9-1C361C914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219" y="1796917"/>
            <a:ext cx="7013829" cy="4137344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South Africa continues to struggle with one of the highest rates of HIV/AIDS transmission worldwide.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Despite important advances in medicine and public health campaigns, HIV/AIDS stigma is still widespread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These current solutions fail to address the social and cultural barriers contributing to stigma.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This stigma leads to discrimination against individuals living with HIV/AIDS.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stigma also leads to fear for testing and delay to seek treatment, worsening virus transmission and containment efforts.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547E5-FE1B-DEA7-8CA7-53F65B020A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73091" y="6406486"/>
            <a:ext cx="911939" cy="365125"/>
          </a:xfrm>
        </p:spPr>
        <p:txBody>
          <a:bodyPr/>
          <a:lstStyle/>
          <a:p>
            <a:r>
              <a:rPr lang="en-US" dirty="0"/>
              <a:t>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3B8FB-AD6A-EF5D-F9DB-028A98855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07032" y="6406487"/>
            <a:ext cx="4412488" cy="365124"/>
          </a:xfrm>
        </p:spPr>
        <p:txBody>
          <a:bodyPr/>
          <a:lstStyle/>
          <a:p>
            <a:r>
              <a:rPr lang="en-US" dirty="0"/>
              <a:t>Addressing the HIV/AIDS stigma in South Africa through Blockchain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904E8-0B62-F376-E499-3F4218A1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81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D326C-80C5-C0BD-9DC3-951F0D1FF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438912"/>
            <a:ext cx="5111750" cy="1204912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3C0A4-1125-A77B-6472-2FB30578D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4" y="2101214"/>
            <a:ext cx="6556630" cy="3797746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800" dirty="0"/>
              <a:t>The HIV/AIDS stigma in South Africa has extensive implications, including: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/>
              <a:t>Economic implications: Individuals with HIV/AIDS may lose jobs due to the discrimination faced in a workplace. The individuals’ economic contributions may be reduced due to the stigma’s psychological impact.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/>
              <a:t>Societal implications: Women face double stigma and discrimination also due to the gender-based  societal norms.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/>
              <a:t>Mental health implications: People living with HIV/AIDS often experience psychological distress and social isolation, and this may lead to fear for disclosure, leading to increased transmission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36FAD-5E0D-B678-FA20-EB97D638AB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6813" y="6223924"/>
            <a:ext cx="911939" cy="365125"/>
          </a:xfrm>
        </p:spPr>
        <p:txBody>
          <a:bodyPr/>
          <a:lstStyle/>
          <a:p>
            <a:r>
              <a:rPr lang="en-US" dirty="0"/>
              <a:t>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97EAA-828E-F864-88B0-62BD9C6C5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38832" y="6236525"/>
            <a:ext cx="4010024" cy="365125"/>
          </a:xfrm>
        </p:spPr>
        <p:txBody>
          <a:bodyPr/>
          <a:lstStyle/>
          <a:p>
            <a:r>
              <a:rPr lang="en-US" dirty="0"/>
              <a:t>Addressing the HIV/AIDS stigma in South Africa through Blockchain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2C6A7-0321-FB40-BC31-FC63CE616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906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F27B4-EED3-9F57-243D-FE2DA12CD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893" y="144030"/>
            <a:ext cx="5111750" cy="1204912"/>
          </a:xfrm>
        </p:spPr>
        <p:txBody>
          <a:bodyPr>
            <a:normAutofit fontScale="90000"/>
          </a:bodyPr>
          <a:lstStyle/>
          <a:p>
            <a:r>
              <a:rPr lang="en-US" dirty="0"/>
              <a:t>HIGH LEVEL 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56791-2CE3-372B-AFF6-034463FF4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9893" y="1488508"/>
            <a:ext cx="7121889" cy="4852832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/>
              <a:t>To effectively address the issue, blockchain technology can be used to create a decentralized, safe, secure platform that aims to reduce the stigma associated with HIV/AIDS in South Africa.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The platform will: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Enable individuals to anonymously share their HIV/AIDS related experiences, struggles and breakthroughs.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Use blockchain’s immutability and transparency to ensure accuracy and authenticity of shared stories.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Use blockchain algorithms and data structures such as Merkle trees to create a supportive, compassionate community through verified, trustworthy stories.</a:t>
            </a:r>
          </a:p>
          <a:p>
            <a:r>
              <a:rPr lang="en-US" sz="1800" dirty="0">
                <a:solidFill>
                  <a:schemeClr val="accent1"/>
                </a:solidFill>
              </a:rPr>
              <a:t>3</a:t>
            </a:r>
            <a:r>
              <a:rPr lang="en-US" sz="1800" dirty="0"/>
              <a:t>. Organizing transaction data within Blocks: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Nodes: Represent transactional data, the shared stories(Hash A, Hash B,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Pairs of nodes hashed until one hash remains, known as root hash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Each non-leaf node is a hash of its previous hash, every leaf node is a hash of transactional data.</a:t>
            </a:r>
          </a:p>
          <a:p>
            <a:pPr lvl="1"/>
            <a:endParaRPr lang="en-US" sz="1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4DC9E-AAE3-74A4-F72E-606136EAC3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21643" y="6348845"/>
            <a:ext cx="911939" cy="365125"/>
          </a:xfrm>
        </p:spPr>
        <p:txBody>
          <a:bodyPr/>
          <a:lstStyle/>
          <a:p>
            <a:r>
              <a:rPr lang="en-US" dirty="0"/>
              <a:t>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E5228-B687-5A07-392F-435D8B415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4321048" cy="365125"/>
          </a:xfrm>
        </p:spPr>
        <p:txBody>
          <a:bodyPr/>
          <a:lstStyle/>
          <a:p>
            <a:r>
              <a:rPr lang="en-US" dirty="0"/>
              <a:t>Addressing the HIV/AIDS stigma in South Africa through Blockchain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58D2B-B7CC-F2AD-B0D6-DFBFF0A5F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187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5F666-20B0-5C0E-5E79-D63E4A97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-58101"/>
            <a:ext cx="5111750" cy="1204912"/>
          </a:xfrm>
        </p:spPr>
        <p:txBody>
          <a:bodyPr/>
          <a:lstStyle/>
          <a:p>
            <a:r>
              <a:rPr lang="en-US" dirty="0"/>
              <a:t>GUI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5282B-5DFF-A7B7-6CE2-B71E82BFA8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66223" y="6271902"/>
            <a:ext cx="911939" cy="365125"/>
          </a:xfrm>
        </p:spPr>
        <p:txBody>
          <a:bodyPr/>
          <a:lstStyle/>
          <a:p>
            <a:r>
              <a:rPr lang="en-US" dirty="0"/>
              <a:t>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021E0-1D95-45D1-7C7E-6EAA46E9F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AB476FCE-35C4-764A-C82B-4A2FC2538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640" y="1504951"/>
            <a:ext cx="5053907" cy="3988451"/>
          </a:xfrm>
          <a:prstGeom prst="rect">
            <a:avLst/>
          </a:prstGeom>
        </p:spPr>
      </p:pic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6DEF038B-ACE5-6152-70D8-49FDC3F4A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" y="1615440"/>
            <a:ext cx="3954780" cy="3741420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FB1CB4B-63C2-1304-DF84-15478B75B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59330" y="6271901"/>
            <a:ext cx="4321048" cy="365125"/>
          </a:xfrm>
        </p:spPr>
        <p:txBody>
          <a:bodyPr/>
          <a:lstStyle/>
          <a:p>
            <a:r>
              <a:rPr lang="en-US" dirty="0"/>
              <a:t>Addressing the HIV/AIDS stigma in South Africa through Blockchain</a:t>
            </a:r>
          </a:p>
        </p:txBody>
      </p:sp>
    </p:spTree>
    <p:extLst>
      <p:ext uri="{BB962C8B-B14F-4D97-AF65-F5344CB8AC3E}">
        <p14:creationId xmlns:p14="http://schemas.microsoft.com/office/powerpoint/2010/main" val="1002235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THANK</a:t>
            </a:r>
            <a:r>
              <a:rPr lang="en-US" dirty="0"/>
              <a:t> </a:t>
            </a:r>
            <a:r>
              <a:rPr lang="en-US" sz="4000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300" dirty="0"/>
              <a:t>Thabang Aubrey Kgosiemang</a:t>
            </a:r>
          </a:p>
          <a:p>
            <a:r>
              <a:rPr lang="en-US" sz="1300" dirty="0"/>
              <a:t>217011260</a:t>
            </a:r>
          </a:p>
          <a:p>
            <a:r>
              <a:rPr lang="en-US" sz="1300" dirty="0"/>
              <a:t>217011260@students.uj.ac.za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C7382-18E7-4821-8C61-461D6BBE08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6813" y="6223923"/>
            <a:ext cx="911939" cy="365125"/>
          </a:xfrm>
        </p:spPr>
        <p:txBody>
          <a:bodyPr/>
          <a:lstStyle/>
          <a:p>
            <a:r>
              <a:rPr lang="en-US" dirty="0"/>
              <a:t>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0FA1B-5022-47AB-A0AE-8F5C57979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0139" y="6223922"/>
            <a:ext cx="3721946" cy="365125"/>
          </a:xfrm>
        </p:spPr>
        <p:txBody>
          <a:bodyPr/>
          <a:lstStyle/>
          <a:p>
            <a:r>
              <a:rPr lang="en-US" dirty="0"/>
              <a:t>Addressing the HIV/AIDS stigma in South Africa through Blockchain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FD6FE22-81A0-4500-AFD0-342D21BB9A2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96B61E-1B64-430F-934F-7D1B900280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9C43685-694E-4579-B109-3C418D49DA6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2827</TotalTime>
  <Words>545</Words>
  <Application>Microsoft Office PowerPoint</Application>
  <PresentationFormat>Widescreen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Trebuchet MS</vt:lpstr>
      <vt:lpstr>Wingdings 3</vt:lpstr>
      <vt:lpstr>Facet</vt:lpstr>
      <vt:lpstr>  ADDRESSING THE HIV/AIDS STIGMA IN SOUTH AFRICA THROUGH BLOCKCHAIN</vt:lpstr>
      <vt:lpstr>STRUCTURE</vt:lpstr>
      <vt:lpstr>INTRODUCTION</vt:lpstr>
      <vt:lpstr>BACKGROUND</vt:lpstr>
      <vt:lpstr>PROBLEM STATEMENT</vt:lpstr>
      <vt:lpstr>HIGH LEVEL SOlUTION</vt:lpstr>
      <vt:lpstr>GUI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Addressing Gender Inequality in STEM Education and Careers in South Africa</dc:title>
  <dc:creator>SIFISO NDHLOVU</dc:creator>
  <cp:lastModifiedBy>Thabang kgosiemang</cp:lastModifiedBy>
  <cp:revision>17</cp:revision>
  <dcterms:created xsi:type="dcterms:W3CDTF">2023-05-13T20:19:19Z</dcterms:created>
  <dcterms:modified xsi:type="dcterms:W3CDTF">2024-05-15T13:22:18Z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